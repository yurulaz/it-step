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Prata"/>
      <p:regular r:id="rId15"/>
    </p:embeddedFont>
    <p:embeddedFont>
      <p:font typeface="Raleway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jLwag+K/zRp7ZBBR9Rvqxk3+2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rata-regular.fntdata"/><Relationship Id="rId14" Type="http://schemas.openxmlformats.org/officeDocument/2006/relationships/slide" Target="slides/slide10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slide" Target="slides/slide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2.xml"/><Relationship Id="rId18" Type="http://schemas.openxmlformats.org/officeDocument/2006/relationships/font" Target="fonts/Raleway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2.jpg"/><Relationship Id="rId5" Type="http://schemas.openxmlformats.org/officeDocument/2006/relationships/image" Target="../media/image10.jpg"/><Relationship Id="rId6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7.jp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496119" y="1608237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750"/>
              <a:buFont typeface="Prata"/>
              <a:buNone/>
            </a:pPr>
            <a:r>
              <a:rPr b="0" i="0" lang="en-US" sz="275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Real-time Communication: WebSockets I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96119" y="2706812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FastAPI-ში რეალურ დროში კომუნიკაციის შესწავლა — WebSocket პროტოკოლის საფუძვლები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96119" y="3319909"/>
            <a:ext cx="610642" cy="215354"/>
          </a:xfrm>
          <a:prstGeom prst="roundRect">
            <a:avLst>
              <a:gd fmla="val 7900" name="adj"/>
            </a:avLst>
          </a:prstGeom>
          <a:solidFill>
            <a:srgbClr val="443D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81174" y="3362399"/>
            <a:ext cx="897731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FASTAPI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177603" y="3319909"/>
            <a:ext cx="875854" cy="215354"/>
          </a:xfrm>
          <a:prstGeom prst="roundRect">
            <a:avLst>
              <a:gd fmla="val 7900" name="adj"/>
            </a:avLst>
          </a:prstGeom>
          <a:noFill/>
          <a:ln cap="flat" cmpd="sng" w="9525">
            <a:solidFill>
              <a:srgbClr val="EEE2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1262658" y="3362399"/>
            <a:ext cx="1162943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EE27D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EEE27D"/>
                </a:solidFill>
                <a:latin typeface="Raleway"/>
                <a:ea typeface="Raleway"/>
                <a:cs typeface="Raleway"/>
                <a:sym typeface="Raleway"/>
              </a:rPr>
              <a:t>WEBSOCKET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124298" y="3319909"/>
            <a:ext cx="754261" cy="215354"/>
          </a:xfrm>
          <a:prstGeom prst="roundRect">
            <a:avLst>
              <a:gd fmla="val 7900" name="adj"/>
            </a:avLst>
          </a:prstGeom>
          <a:noFill/>
          <a:ln cap="flat" cmpd="sng" w="9525">
            <a:solidFill>
              <a:srgbClr val="EEE2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2209354" y="3362399"/>
            <a:ext cx="1041350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EE27D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EEE27D"/>
                </a:solidFill>
                <a:latin typeface="Raleway"/>
                <a:ea typeface="Raleway"/>
                <a:cs typeface="Raleway"/>
                <a:sym typeface="Raleway"/>
              </a:rPr>
              <a:t>REAL-TIME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496119" y="638249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750"/>
              <a:buFont typeface="Prata"/>
              <a:buNone/>
            </a:pPr>
            <a:r>
              <a:rPr b="0" i="0" lang="en-US" sz="275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რა არის Real-time Communication?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96119" y="1364754"/>
            <a:ext cx="8151763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რეალურ დროში კომუნიკაცია ნიშნავს, რომ მონაცემები გადაეცემა </a:t>
            </a:r>
            <a:r>
              <a:rPr b="1" i="0" lang="en-US" sz="11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მყისიერად</a:t>
            </a:r>
            <a:r>
              <a:rPr b="0" i="0" lang="en-US" sz="11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— მომხმარებელი ინფორმაციას იღებს მაშინვე, როცა ის იცვლება. ყველა აპლიკაცია ამას არ საჭიროებს: სტატიკური კონტენტისთვის HTTP საკმარისია, მაგრამ როცა მონაცემები ხშირად იცვლება და საჭიროა მყისიერი რეაგირება, WebSocket აუცილებელი ხდება.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431479"/>
            <a:ext cx="1104900" cy="68282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496119" y="3291483"/>
            <a:ext cx="190500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350"/>
              <a:buFont typeface="Prata"/>
              <a:buNone/>
            </a:pPr>
            <a:r>
              <a:rPr b="0" i="0" lang="en-US" sz="13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Chat &amp; Messaging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96119" y="3597994"/>
            <a:ext cx="1905000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Messenger, WhatsApp, Telegram — მყისიერი შეტყობინებები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8298" y="2431479"/>
            <a:ext cx="1104900" cy="68282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2578298" y="3291483"/>
            <a:ext cx="190507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350"/>
              <a:buFont typeface="Prata"/>
              <a:buNone/>
            </a:pPr>
            <a:r>
              <a:rPr b="0" i="0" lang="en-US" sz="13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Financial Trading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578298" y="3597994"/>
            <a:ext cx="1905074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Stock Market, Crypto Exchange — ფასების ცვლილებები რეალურ დროში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0553" y="2431479"/>
            <a:ext cx="1104900" cy="68282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4660553" y="3291483"/>
            <a:ext cx="190507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350"/>
              <a:buFont typeface="Prata"/>
              <a:buNone/>
            </a:pPr>
            <a:r>
              <a:rPr b="0" i="0" lang="en-US" sz="13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Collaboration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660553" y="3597994"/>
            <a:ext cx="1905074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Google Docs, Live Dashboards, Online Games — ერთდროული რედაქტირება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42807" y="2431479"/>
            <a:ext cx="1104900" cy="682823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6742807" y="3291483"/>
            <a:ext cx="190507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350"/>
              <a:buFont typeface="Prata"/>
              <a:buNone/>
            </a:pPr>
            <a:r>
              <a:rPr b="0" i="0" lang="en-US" sz="13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Live Notifications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742807" y="3597994"/>
            <a:ext cx="190507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00"/>
              <a:buFont typeface="Raleway"/>
              <a:buNone/>
            </a:pPr>
            <a:r>
              <a:rPr b="0" i="0" lang="en-US" sz="11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შეტყობინებები, Live Sports Score, GPS Tracking — მუდმივი განახლება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496119" y="408384"/>
            <a:ext cx="8151763" cy="3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250"/>
              <a:buFont typeface="Prata"/>
              <a:buNone/>
            </a:pPr>
            <a:r>
              <a:rPr b="0" i="0" lang="en-US" sz="225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როგორ მუშაობს HTTP?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96119" y="955477"/>
            <a:ext cx="8151763" cy="333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HTTP არის </a:t>
            </a:r>
            <a:r>
              <a:rPr b="1" i="0" lang="en-US" sz="9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Request/Response</a:t>
            </a:r>
            <a:r>
              <a:rPr b="0" i="0" lang="en-US" sz="9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მოდელზე დაფუძნებული პროტოკოლი. Client იწყებს ყოველ კომუნიკაციას, Server პასუხობს და Connection სრულდება. HTTP </a:t>
            </a:r>
            <a:r>
              <a:rPr b="1" i="0" lang="en-US" sz="9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Stateless</a:t>
            </a:r>
            <a:r>
              <a:rPr b="0" i="0" lang="en-US" sz="9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პროტოკოლია — ყოველი Request ერთმანეთისგან დამოუკიდებელია.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407" y="1394668"/>
            <a:ext cx="6339185" cy="290125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6256361" y="3492334"/>
            <a:ext cx="1190142" cy="458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00"/>
              <a:buFont typeface="Prata"/>
              <a:buNone/>
            </a:pPr>
            <a:r>
              <a:rPr b="0" i="0" lang="en-US" sz="14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კავშირი იკეტება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756456" y="3492334"/>
            <a:ext cx="1190143" cy="458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00"/>
              <a:buFont typeface="Prata"/>
              <a:buNone/>
            </a:pPr>
            <a:r>
              <a:rPr b="0" i="0" lang="en-US" sz="14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Server-ი პასუხობს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264702" y="3377701"/>
            <a:ext cx="1190142" cy="687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00"/>
              <a:buFont typeface="Prata"/>
              <a:buNone/>
            </a:pPr>
            <a:r>
              <a:rPr b="0" i="0" lang="en-US" sz="14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Server-ი პროცესორავს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740341" y="3492334"/>
            <a:ext cx="1190142" cy="458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00"/>
              <a:buFont typeface="Prata"/>
              <a:buNone/>
            </a:pPr>
            <a:r>
              <a:rPr b="0" i="0" lang="en-US" sz="14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Client-ი აგზავნის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96119" y="4401145"/>
            <a:ext cx="8151763" cy="333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Client აგზავნის Request-ს → Server ამუშავებს → აბრუნებს Response-ს → Connection სრულდება. Server-ს არ შეუძლია Client-თან თვითნებურად დაკავშირება — ყოველთვის Client უნდა ინიცირებდეს კომუნიკაციას.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1350"/>
              <a:buFont typeface="Prata"/>
              <a:buNone/>
            </a:pPr>
            <a:r>
              <a:rPr b="0" i="0" lang="en-US" sz="135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რატომ არ არის HTTP საკმარისი?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96119" y="2542580"/>
            <a:ext cx="3989412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650"/>
              <a:buFont typeface="Prata"/>
              <a:buNone/>
            </a:pPr>
            <a:r>
              <a:rPr b="0" i="0" lang="en-US" sz="65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Polling-ის პრობლემა Chat-ში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6119" y="2688729"/>
            <a:ext cx="3989412" cy="170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550"/>
              <a:buFont typeface="Raleway"/>
              <a:buNone/>
            </a:pPr>
            <a:r>
              <a:rPr b="0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ახალი შეტყობინების მისაღებად Client პერიოდულად აგზავნის </a:t>
            </a:r>
            <a:r>
              <a:rPr b="1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GET /messages</a:t>
            </a:r>
            <a:r>
              <a:rPr b="0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Request-ს. უმეტეს შემთხვევაში პასუხი ცარიელია — </a:t>
            </a:r>
            <a:r>
              <a:rPr b="1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"No new messages"</a:t>
            </a:r>
            <a:r>
              <a:rPr b="0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232" y="704255"/>
            <a:ext cx="3989412" cy="3989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4773290"/>
            <a:ext cx="2011338" cy="46278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"/>
          <p:cNvSpPr/>
          <p:nvPr/>
        </p:nvSpPr>
        <p:spPr>
          <a:xfrm>
            <a:off x="614586" y="4853657"/>
            <a:ext cx="1812503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Prata"/>
              <a:buNone/>
            </a:pPr>
            <a:r>
              <a:rPr b="0" i="0" lang="en-US" sz="650" u="none" cap="none" strike="noStrike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⚡</a:t>
            </a:r>
            <a:r>
              <a:rPr b="0" i="0" lang="en-US" sz="6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 ზედმეტი Request-ები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14586" y="4985593"/>
            <a:ext cx="1812503" cy="85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550"/>
              <a:buFont typeface="Raleway"/>
              <a:buNone/>
            </a:pPr>
            <a:r>
              <a:rPr b="0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ათასობით ცარიელი პასუხი წამში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2877" y="4773290"/>
            <a:ext cx="2011412" cy="46278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/>
          <p:nvPr/>
        </p:nvSpPr>
        <p:spPr>
          <a:xfrm>
            <a:off x="2661345" y="4853657"/>
            <a:ext cx="1812578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Prata"/>
              <a:buNone/>
            </a:pPr>
            <a:r>
              <a:rPr b="0" i="0" lang="en-US" sz="650" u="none" cap="none" strike="noStrike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🖥️</a:t>
            </a:r>
            <a:r>
              <a:rPr b="0" i="0" lang="en-US" sz="6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 Server-ის დატვირთვა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661345" y="4985593"/>
            <a:ext cx="1812578" cy="85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550"/>
              <a:buFont typeface="Raleway"/>
              <a:buNone/>
            </a:pPr>
            <a:r>
              <a:rPr b="0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რესურსები იხარჯება ცარიელი პასუხებისთვის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9711" y="4773290"/>
            <a:ext cx="2011338" cy="46278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/>
          <p:nvPr/>
        </p:nvSpPr>
        <p:spPr>
          <a:xfrm>
            <a:off x="4708178" y="4853657"/>
            <a:ext cx="1812503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Prata"/>
              <a:buNone/>
            </a:pPr>
            <a:r>
              <a:rPr b="0" i="0" lang="en-US" sz="650" u="none" cap="none" strike="noStrike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📡</a:t>
            </a:r>
            <a:r>
              <a:rPr b="0" i="0" lang="en-US" sz="6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 Network Traffic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708178" y="4985593"/>
            <a:ext cx="1812503" cy="170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550"/>
              <a:buFont typeface="Raleway"/>
              <a:buNone/>
            </a:pPr>
            <a:r>
              <a:rPr b="0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გამოყენებული სიჩქარე სასარგებლო მონაცემების გარეშე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6469" y="4773290"/>
            <a:ext cx="2011412" cy="46278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/>
          <p:nvPr/>
        </p:nvSpPr>
        <p:spPr>
          <a:xfrm>
            <a:off x="6754937" y="4853657"/>
            <a:ext cx="1812578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Prata"/>
              <a:buNone/>
            </a:pPr>
            <a:r>
              <a:rPr b="0" i="0" lang="en-US" sz="650" u="none" cap="none" strike="noStrike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⏱️</a:t>
            </a:r>
            <a:r>
              <a:rPr b="0" i="0" lang="en-US" sz="6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 Delay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754937" y="4985593"/>
            <a:ext cx="1812578" cy="170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550"/>
              <a:buFont typeface="Raleway"/>
              <a:buNone/>
            </a:pPr>
            <a:r>
              <a:rPr b="0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შეტყობინება მიიღება მხოლოდ შემდეგი Polling-ისას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7" name="Google Shape;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3925119" y="428030"/>
            <a:ext cx="4722763" cy="366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300"/>
              <a:buFont typeface="Prata"/>
              <a:buNone/>
            </a:pPr>
            <a:r>
              <a:rPr b="0" i="0" lang="en-US" sz="23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რა არის WebSocket?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925119" y="940668"/>
            <a:ext cx="4722763" cy="51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900"/>
              <a:buFont typeface="Raleway"/>
              <a:buNone/>
            </a:pPr>
            <a:r>
              <a:rPr b="1" i="0" lang="en-US" sz="9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WebSocket</a:t>
            </a:r>
            <a:r>
              <a:rPr b="0" i="0" lang="en-US" sz="9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არის Application Layer-ის პროტოკოლი, რომელიც მუშაობს TCP-ზე და უზრუნველყოფს მუდმივ, ორმხრივ კომუნიკაციას Client-სა და Server-ს შორის.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925119" y="1565002"/>
            <a:ext cx="2312789" cy="1784152"/>
          </a:xfrm>
          <a:prstGeom prst="roundRect">
            <a:avLst>
              <a:gd fmla="val 987" name="adj"/>
            </a:avLst>
          </a:prstGeom>
          <a:solidFill>
            <a:srgbClr val="3A3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042470" y="1682353"/>
            <a:ext cx="352202" cy="352202"/>
          </a:xfrm>
          <a:prstGeom prst="ellipse">
            <a:avLst/>
          </a:prstGeom>
          <a:solidFill>
            <a:srgbClr val="D2AC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9357" y="1779166"/>
            <a:ext cx="158428" cy="15842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4042470" y="2131740"/>
            <a:ext cx="2078087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50"/>
              <a:buFont typeface="Prata"/>
              <a:buNone/>
            </a:pPr>
            <a:r>
              <a:rPr b="0" i="0" lang="en-US" sz="11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Persistent Connection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042470" y="2373437"/>
            <a:ext cx="2078087" cy="686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Connection ერთხელ იხსნება და ღია რჩება მთელი სესიის განმავლობაში. არ ხდება მუდმივი დაკავშირება/გათიშვა.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335092" y="1565002"/>
            <a:ext cx="2312789" cy="1784152"/>
          </a:xfrm>
          <a:prstGeom prst="roundRect">
            <a:avLst>
              <a:gd fmla="val 987" name="adj"/>
            </a:avLst>
          </a:prstGeom>
          <a:solidFill>
            <a:srgbClr val="3A3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452443" y="1682353"/>
            <a:ext cx="352202" cy="352202"/>
          </a:xfrm>
          <a:prstGeom prst="ellipse">
            <a:avLst/>
          </a:prstGeom>
          <a:solidFill>
            <a:srgbClr val="D2AC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9330" y="1779166"/>
            <a:ext cx="158428" cy="15842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6452443" y="2131740"/>
            <a:ext cx="2078087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50"/>
              <a:buFont typeface="Prata"/>
              <a:buNone/>
            </a:pPr>
            <a:r>
              <a:rPr b="0" i="0" lang="en-US" sz="11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Full Duplex Communication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452443" y="2373437"/>
            <a:ext cx="2078087" cy="858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ორივე მხარეს — Client-საც და Server-საც — შეუძლია მონაცემების გაგზავნა </a:t>
            </a:r>
            <a:r>
              <a:rPr b="1" i="0" lang="en-US" sz="9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ნებისმიერ დროს</a:t>
            </a:r>
            <a:r>
              <a:rPr b="0" i="0" lang="en-US" sz="9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, დამოუკიდებლად ერთმანეთისგან.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925119" y="3446338"/>
            <a:ext cx="4722763" cy="1269132"/>
          </a:xfrm>
          <a:prstGeom prst="roundRect">
            <a:avLst>
              <a:gd fmla="val 1388" name="adj"/>
            </a:avLst>
          </a:prstGeom>
          <a:solidFill>
            <a:srgbClr val="3A3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042470" y="3563689"/>
            <a:ext cx="352202" cy="352202"/>
          </a:xfrm>
          <a:prstGeom prst="ellipse">
            <a:avLst/>
          </a:prstGeom>
          <a:solidFill>
            <a:srgbClr val="D2AC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39357" y="3660502"/>
            <a:ext cx="158428" cy="15842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4042470" y="4013076"/>
            <a:ext cx="4488061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50"/>
              <a:buFont typeface="Prata"/>
              <a:buNone/>
            </a:pPr>
            <a:r>
              <a:rPr b="0" i="0" lang="en-US" sz="11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Server Push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042470" y="4254773"/>
            <a:ext cx="4488061" cy="34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Server-ს შეუძლია თვითნებურად გაუგზავნოს მონაცემები Client-ს — HTTP-სგან განსხვავებით, სადაც მხოლოდ Client იწყებს კომუნიკაციას.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/>
          <p:nvPr/>
        </p:nvSpPr>
        <p:spPr>
          <a:xfrm>
            <a:off x="496119" y="466055"/>
            <a:ext cx="8151763" cy="429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700"/>
              <a:buFont typeface="Prata"/>
              <a:buNone/>
            </a:pPr>
            <a:r>
              <a:rPr b="0" i="0" lang="en-US" sz="27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HTTP vs WebSocket — შედარება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96119" y="1161231"/>
            <a:ext cx="8151763" cy="3516139"/>
          </a:xfrm>
          <a:prstGeom prst="roundRect">
            <a:avLst>
              <a:gd fmla="val 586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96119" y="1553766"/>
            <a:ext cx="8151763" cy="8584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96119" y="1943919"/>
            <a:ext cx="8151763" cy="8584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96119" y="2334071"/>
            <a:ext cx="8151763" cy="8584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96119" y="2724224"/>
            <a:ext cx="8151763" cy="8584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96119" y="3114377"/>
            <a:ext cx="8151763" cy="8584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496119" y="3504530"/>
            <a:ext cx="8151763" cy="8584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96119" y="3894683"/>
            <a:ext cx="8151763" cy="8584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96119" y="4284836"/>
            <a:ext cx="8151763" cy="8584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2292176" y="1161231"/>
            <a:ext cx="8584" cy="3516139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5467648" y="1161231"/>
            <a:ext cx="8584" cy="3516139"/>
          </a:xfrm>
          <a:prstGeom prst="rect">
            <a:avLst/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638249" y="1250528"/>
            <a:ext cx="197145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1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მახასიათებელი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2431852" y="1250528"/>
            <a:ext cx="3353321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1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HTTP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607323" y="1250528"/>
            <a:ext cx="335570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1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WebSocket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38249" y="1640681"/>
            <a:ext cx="197145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Connection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2431852" y="1640681"/>
            <a:ext cx="3353321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მოკლევადიანი (Request-ზე)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607323" y="1640681"/>
            <a:ext cx="335570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მუდმივი (Persistent)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38249" y="2030834"/>
            <a:ext cx="197145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Communication 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431852" y="2030834"/>
            <a:ext cx="3353321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Request / Response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607323" y="2030834"/>
            <a:ext cx="335570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Full Duplex (ორმხრივი)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38249" y="2420987"/>
            <a:ext cx="197145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Stateful / Stateless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431852" y="2420987"/>
            <a:ext cx="3353321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Stateless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607323" y="2420987"/>
            <a:ext cx="335570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Stateful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38249" y="2811140"/>
            <a:ext cx="197145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ვინ იწყებს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431852" y="2811140"/>
            <a:ext cx="3353321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მხოლოდ Client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607323" y="2811140"/>
            <a:ext cx="335570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Client ან Server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38249" y="3201293"/>
            <a:ext cx="197145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მონაცემთა გაცვლა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2431852" y="3201293"/>
            <a:ext cx="3353321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Client ითხოვს → Server პასუხობს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607323" y="3201293"/>
            <a:ext cx="335570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ნებისმიერ დროს, ნებისმიერი მხრიდან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38249" y="3591446"/>
            <a:ext cx="197145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Latency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2431852" y="3591446"/>
            <a:ext cx="3353321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უფრო მაღალი (Handshake ყოველ ჯერზე)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607323" y="3591446"/>
            <a:ext cx="335570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დაბალი (Connection უკვე ღიაა)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38249" y="3981599"/>
            <a:ext cx="197145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Server Push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2431852" y="3981599"/>
            <a:ext cx="3353321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არ არის შესაძლებელი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607323" y="3981599"/>
            <a:ext cx="335570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lang="en-US" sz="105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atively მხარდაჭერილი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38249" y="4371752"/>
            <a:ext cx="197145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გამოყენების სფერო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431852" y="4371752"/>
            <a:ext cx="3353321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REST API, ვებ-გვერდები, CRUD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607323" y="4371752"/>
            <a:ext cx="335570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Chat, Games, Live Dashboards, Trading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496119" y="396478"/>
            <a:ext cx="8151763" cy="352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WebSocket-ის არქიტექტურა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96119" y="929432"/>
            <a:ext cx="8151763" cy="329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WebSocket Connection იწყება </a:t>
            </a:r>
            <a:r>
              <a:rPr b="1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HTTP Handshake-ით</a:t>
            </a: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 Client აგზავნის სპეციალურ HTTP Request-ს </a:t>
            </a:r>
            <a:r>
              <a:rPr b="0" i="0" lang="en-US" sz="850" u="none" cap="none" strike="noStrike">
                <a:solidFill>
                  <a:srgbClr val="CFCBBF"/>
                </a:solidFill>
                <a:highlight>
                  <a:srgbClr val="28292A"/>
                </a:highlight>
                <a:latin typeface="Consolas"/>
                <a:ea typeface="Consolas"/>
                <a:cs typeface="Consolas"/>
                <a:sym typeface="Consolas"/>
              </a:rPr>
              <a:t>Upgrade: websocket</a:t>
            </a: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Header-ით. თუ Server თანხმდება, აბრუნებს </a:t>
            </a:r>
            <a:r>
              <a:rPr b="1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101 Switching Protocols</a:t>
            </a: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პასუხს და Connection გადადის WebSocket რეჟიმში.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641" y="1360140"/>
            <a:ext cx="7890644" cy="296093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7002209" y="3487648"/>
            <a:ext cx="1190147" cy="4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00"/>
              <a:buFont typeface="Prata"/>
              <a:buNone/>
            </a:pPr>
            <a:r>
              <a:rPr b="0" i="0" lang="en-US" sz="14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გამოცვლა მესიჯები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502299" y="3487648"/>
            <a:ext cx="1190146" cy="4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00"/>
              <a:buFont typeface="Prata"/>
              <a:buNone/>
            </a:pPr>
            <a:r>
              <a:rPr b="0" i="0" lang="en-US" sz="14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კავშირი ღიაა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010540" y="3602281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00"/>
              <a:buFont typeface="Prata"/>
              <a:buNone/>
            </a:pPr>
            <a:r>
              <a:rPr b="0" i="0" lang="en-US" sz="14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101 პასუხი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518781" y="3487648"/>
            <a:ext cx="1190146" cy="4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00"/>
              <a:buFont typeface="Prata"/>
              <a:buNone/>
            </a:pPr>
            <a:r>
              <a:rPr b="0" i="0" lang="en-US" sz="14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Upgrade Header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994415" y="3487648"/>
            <a:ext cx="1190146" cy="4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00"/>
              <a:buFont typeface="Prata"/>
              <a:buNone/>
            </a:pPr>
            <a:r>
              <a:rPr b="0" i="0" lang="en-US" sz="14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HTTP Handshake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96119" y="4422279"/>
            <a:ext cx="8151763" cy="324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Handshake ხდება მხოლოდ </a:t>
            </a:r>
            <a:r>
              <a:rPr b="1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ერთხელ</a:t>
            </a: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სესიის დასაწყისში. შემდეგ Connection ღია რჩება და მონაცემები გადაეცემა მყისიერად, დამატებითი Handshake-ის გარეშე.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1350"/>
              <a:buFont typeface="Prata"/>
              <a:buNone/>
            </a:pPr>
            <a:r>
              <a:rPr b="0" i="0" lang="en-US" sz="135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TCP, HTTP და WebSocket — OSI სტეკი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96119" y="2384078"/>
            <a:ext cx="3989412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650"/>
              <a:buFont typeface="Prata"/>
              <a:buNone/>
            </a:pPr>
            <a:r>
              <a:rPr b="0" i="0" lang="en-US" sz="65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სად მუშაობს WebSocket?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96119" y="2530227"/>
            <a:ext cx="3989412" cy="170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550"/>
              <a:buFont typeface="Raleway"/>
              <a:buNone/>
            </a:pPr>
            <a:r>
              <a:rPr b="0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ორივე — HTTP და WebSocket — </a:t>
            </a:r>
            <a:r>
              <a:rPr b="1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Application Layer-ის</a:t>
            </a:r>
            <a:r>
              <a:rPr b="0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პროტოკოლებია და ორივე იყენებს </a:t>
            </a:r>
            <a:r>
              <a:rPr b="1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TCP</a:t>
            </a:r>
            <a:r>
              <a:rPr b="0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-ს Transport Layer-ზე.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96119" y="2740149"/>
            <a:ext cx="3989412" cy="269230"/>
          </a:xfrm>
          <a:prstGeom prst="roundRect">
            <a:avLst>
              <a:gd fmla="val 3949" name="adj"/>
            </a:avLst>
          </a:prstGeom>
          <a:solidFill>
            <a:srgbClr val="7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61" y="2833390"/>
            <a:ext cx="88553" cy="7084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726356" y="2789709"/>
            <a:ext cx="3688333" cy="170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aleway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მნიშვნელოვანია:</a:t>
            </a:r>
            <a:r>
              <a:rPr b="0" i="0" lang="en-US" sz="5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WebSocket არ იყენებს UDP-ს. TCP-ს სანდოობა აუცილებელია მონაცემთა მთლიანობისთვის.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232" y="704255"/>
            <a:ext cx="3989412" cy="3989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5" name="Google Shape;17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4773290"/>
            <a:ext cx="8151763" cy="66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/>
          <p:nvPr/>
        </p:nvSpPr>
        <p:spPr>
          <a:xfrm>
            <a:off x="614586" y="4853657"/>
            <a:ext cx="7952929" cy="110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650"/>
              <a:buFont typeface="Prata"/>
              <a:buNone/>
            </a:pPr>
            <a:r>
              <a:rPr b="0" i="0" lang="en-US" sz="6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TCP უზრუნველყოფს: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14586" y="4985593"/>
            <a:ext cx="7952929" cy="377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11760" lvl="0" marL="111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550"/>
              <a:buFont typeface="Raleway"/>
              <a:buChar char="•"/>
            </a:pPr>
            <a:r>
              <a:rPr b="0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Reliable Delivery — მონაცემები არ იკარგება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760" lvl="0" marL="111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550"/>
              <a:buFont typeface="Raleway"/>
              <a:buChar char="•"/>
            </a:pPr>
            <a:r>
              <a:rPr b="0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Ordered Delivery — პაკეტები სწორი თანმიმდევრობით ჩამოდის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760" lvl="0" marL="111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550"/>
              <a:buFont typeface="Raleway"/>
              <a:buChar char="•"/>
            </a:pPr>
            <a:r>
              <a:rPr b="0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Error Checking — შეცდომების აღმოჩენა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760" lvl="0" marL="111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550"/>
              <a:buFont typeface="Raleway"/>
              <a:buChar char="•"/>
            </a:pPr>
            <a:r>
              <a:rPr b="0" i="0" lang="en-US" sz="5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Connection-Oriented — დადგენილი კავშირი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496119" y="394395"/>
            <a:ext cx="8151763" cy="283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1750"/>
              <a:buFont typeface="Prata"/>
              <a:buNone/>
            </a:pPr>
            <a:r>
              <a:rPr b="0" i="0" lang="en-US" sz="175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რატომ არის Async მნიშვნელოვანი?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96119" y="794445"/>
            <a:ext cx="8608963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წარმოიდგინეთ </a:t>
            </a:r>
            <a:r>
              <a:rPr b="1" i="0" lang="en-US" sz="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5,000 აქტიური WebSocket Connection</a:t>
            </a:r>
            <a:r>
              <a:rPr b="0" i="0" lang="en-US" sz="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. როგორ მოახერხებს Server ამის დამუშავება?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30783" y="978991"/>
            <a:ext cx="4095824" cy="815950"/>
          </a:xfrm>
          <a:prstGeom prst="roundRect">
            <a:avLst>
              <a:gd fmla="val 1670" name="adj"/>
            </a:avLst>
          </a:prstGeom>
          <a:solidFill>
            <a:srgbClr val="EEE2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21568" y="1037109"/>
            <a:ext cx="3914254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Prata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❌ Sync მიდგომა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21568" y="1237134"/>
            <a:ext cx="3914254" cy="537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Raleway"/>
              <a:buChar char="•"/>
            </a:pPr>
            <a:r>
              <a:rPr b="0" i="0" lang="en-US" sz="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ცალკე </a:t>
            </a:r>
            <a:r>
              <a:rPr b="1" i="0" lang="en-US" sz="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Thread</a:t>
            </a:r>
            <a:r>
              <a:rPr b="0" i="0" lang="en-US" sz="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თითოეული Connection-ისთვის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Raleway"/>
              <a:buChar char="•"/>
            </a:pPr>
            <a:r>
              <a:rPr b="0" i="0" lang="en-US" sz="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5,000 Thread = რესურსების უზარმაზარი მოხმარება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Raleway"/>
              <a:buChar char="•"/>
            </a:pPr>
            <a:r>
              <a:rPr b="0" i="0" lang="en-US" sz="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Memory და CPU სწრაფად ამოიწურება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Raleway"/>
              <a:buChar char="•"/>
            </a:pPr>
            <a:r>
              <a:rPr b="0" i="0" lang="en-US" sz="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დაბალი Scalability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687491" y="1037109"/>
            <a:ext cx="3965153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Prata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✅</a:t>
            </a:r>
            <a:r>
              <a:rPr b="0" i="0" lang="en-US" sz="85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 Async მიდგომა (FastAPI)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687491" y="1237134"/>
            <a:ext cx="3965153" cy="537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700"/>
              <a:buFont typeface="Raleway"/>
              <a:buChar char="•"/>
            </a:pPr>
            <a:r>
              <a:rPr b="1" i="0" lang="en-US" sz="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ერთი Event Loop</a:t>
            </a:r>
            <a:r>
              <a:rPr b="0" i="0" lang="en-US" sz="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მართავს ყველა Connection-ს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700"/>
              <a:buFont typeface="Raleway"/>
              <a:buChar char="•"/>
            </a:pPr>
            <a:r>
              <a:rPr b="0" i="0" lang="en-US" sz="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ათასობით Coroutine — მინიმალური რესურსებით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700"/>
              <a:buFont typeface="Raleway"/>
              <a:buChar char="•"/>
            </a:pPr>
            <a:r>
              <a:rPr b="0" i="0" lang="en-US" sz="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Connection-ები უბრალოდ </a:t>
            </a:r>
            <a:r>
              <a:rPr b="1" i="0" lang="en-US" sz="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ელოდებიან Event-ს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700"/>
              <a:buFont typeface="Raleway"/>
              <a:buChar char="•"/>
            </a:pPr>
            <a:r>
              <a:rPr b="0" i="0" lang="en-US" sz="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მაღალი Scalability და ეფექტურობა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083" y="1860352"/>
            <a:ext cx="6383759" cy="258499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/>
          <p:nvPr/>
        </p:nvSpPr>
        <p:spPr>
          <a:xfrm>
            <a:off x="1855069" y="2712061"/>
            <a:ext cx="1431730" cy="229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1400"/>
              <a:buFont typeface="Prata"/>
              <a:buNone/>
            </a:pPr>
            <a:r>
              <a:rPr b="0" i="0" lang="en-US" sz="14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Sync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855069" y="3006533"/>
            <a:ext cx="1431730" cy="601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ერთი Thread თითო კონექშენზე, მაღალი რესურსები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3863007" y="2707986"/>
            <a:ext cx="1431730" cy="229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1400"/>
              <a:buFont typeface="Prata"/>
              <a:buNone/>
            </a:pPr>
            <a:r>
              <a:rPr b="0" i="0" lang="en-US" sz="14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Async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863007" y="3002458"/>
            <a:ext cx="1431730" cy="601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ერთი Event Loop, ათასობით Coroutine, მაღალი სკალაბილობა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873746" y="2703910"/>
            <a:ext cx="1431730" cy="229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1400"/>
              <a:buFont typeface="Prata"/>
              <a:buNone/>
            </a:pPr>
            <a:r>
              <a:rPr b="0" i="0" lang="en-US" sz="14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მოღწევა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5873746" y="2998382"/>
            <a:ext cx="1431730" cy="601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Sync: სწრაფი ბლოკირება, Async: მოვლენით გაუნაწილებელი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96119" y="4510757"/>
            <a:ext cx="8151763" cy="238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Async საშუალებას აძლევს ერთ Event Loop-ს მართოს ათასობით Connection მინიმალური რესურსებით — თითოეული Connection ელოდება მოვლენას და არ ხარჯავს ცალკე Thread-ს.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496119" y="390004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400"/>
              <a:buFont typeface="Prata"/>
              <a:buNone/>
            </a:pPr>
            <a:r>
              <a:rPr b="0" i="0" lang="en-US" sz="24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WebSocket FastAPI-ში და როდის გამოვიყენოთ?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96119" y="1048792"/>
            <a:ext cx="392459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1200"/>
              <a:buFont typeface="Prata"/>
              <a:buNone/>
            </a:pPr>
            <a:r>
              <a:rPr b="0" i="0" lang="en-US" sz="12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FastAPI — ერთი აპლიკაცია, ორი პროტოკოლი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96119" y="1351136"/>
            <a:ext cx="3924598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FastAPI არის </a:t>
            </a:r>
            <a:r>
              <a:rPr b="1" i="0" lang="en-US" sz="9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ASGI Framework</a:t>
            </a:r>
            <a:r>
              <a:rPr b="0" i="0" lang="en-US" sz="9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— შეუძლია ერთდროულად მოემსახუროს REST API-საც და WebSocket-საც.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728046" y="1048792"/>
            <a:ext cx="392459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1200"/>
              <a:buFont typeface="Prata"/>
              <a:buNone/>
            </a:pPr>
            <a:r>
              <a:rPr b="0" i="0" lang="en-US" sz="12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გამოყენების შემთხვევები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728046" y="1351136"/>
            <a:ext cx="3924598" cy="175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93040" lvl="0" marL="19304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Char char="•"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💬</a:t>
            </a:r>
            <a:r>
              <a:rPr b="0" i="0" lang="en-US" sz="9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Chat Applications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Char char="•"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🎮</a:t>
            </a:r>
            <a:r>
              <a:rPr b="0" i="0" lang="en-US" sz="9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Online Games &amp; Multiplayer Systems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Char char="•"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🔔</a:t>
            </a:r>
            <a:r>
              <a:rPr b="0" i="0" lang="en-US" sz="9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Live Notifications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Char char="•"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📈</a:t>
            </a:r>
            <a:r>
              <a:rPr b="0" i="0" lang="en-US" sz="9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Financial Trading &amp; Crypto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Char char="•"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🌐</a:t>
            </a:r>
            <a:r>
              <a:rPr b="0" i="0" lang="en-US" sz="9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IoT Devices &amp; GPS Tracking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Char char="•"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📊</a:t>
            </a:r>
            <a:r>
              <a:rPr b="0" i="0" lang="en-US" sz="9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Monitoring &amp; Live Dashboards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Char char="•"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✏️</a:t>
            </a:r>
            <a:r>
              <a:rPr b="0" i="0" lang="en-US" sz="9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Collaborative Editors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Char char="•"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⚽</a:t>
            </a:r>
            <a:r>
              <a:rPr b="0" i="0" lang="en-US" sz="9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Live Sports Score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96119" y="3265066"/>
            <a:ext cx="4021634" cy="726281"/>
          </a:xfrm>
          <a:prstGeom prst="roundRect">
            <a:avLst>
              <a:gd fmla="val 2562" name="adj"/>
            </a:avLst>
          </a:prstGeom>
          <a:solidFill>
            <a:srgbClr val="1B1C1D"/>
          </a:solidFill>
          <a:ln cap="flat" cmpd="sng" w="14275">
            <a:solidFill>
              <a:srgbClr val="535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634380" y="3403327"/>
            <a:ext cx="3745111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200"/>
              <a:buFont typeface="Prata"/>
              <a:buNone/>
            </a:pPr>
            <a:r>
              <a:rPr b="0" i="0" lang="en-US" sz="12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HTTP Endpoint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34380" y="3662288"/>
            <a:ext cx="3745111" cy="1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FCBBF"/>
                </a:solidFill>
                <a:highlight>
                  <a:srgbClr val="28292A"/>
                </a:highlight>
                <a:latin typeface="Consolas"/>
                <a:ea typeface="Consolas"/>
                <a:cs typeface="Consolas"/>
                <a:sym typeface="Consolas"/>
              </a:rPr>
              <a:t>@app.get("/products")</a:t>
            </a:r>
            <a:r>
              <a:rPr b="0" i="0" lang="en-US" sz="9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— CRUD ოპერაციებისთვის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626248" y="3265066"/>
            <a:ext cx="4021634" cy="726281"/>
          </a:xfrm>
          <a:prstGeom prst="roundRect">
            <a:avLst>
              <a:gd fmla="val 2562" name="adj"/>
            </a:avLst>
          </a:prstGeom>
          <a:solidFill>
            <a:srgbClr val="1B1C1D"/>
          </a:solidFill>
          <a:ln cap="flat" cmpd="sng" w="14275">
            <a:solidFill>
              <a:srgbClr val="535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4764509" y="3403327"/>
            <a:ext cx="3745111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200"/>
              <a:buFont typeface="Prata"/>
              <a:buNone/>
            </a:pPr>
            <a:r>
              <a:rPr b="0" i="0" lang="en-US" sz="12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WebSocket Endpoint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764509" y="3662288"/>
            <a:ext cx="3745111" cy="1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FCBBF"/>
                </a:solidFill>
                <a:highlight>
                  <a:srgbClr val="28292A"/>
                </a:highlight>
                <a:latin typeface="Consolas"/>
                <a:ea typeface="Consolas"/>
                <a:cs typeface="Consolas"/>
                <a:sym typeface="Consolas"/>
              </a:rPr>
              <a:t>@app.websocket("/ws")</a:t>
            </a:r>
            <a:r>
              <a:rPr b="0" i="0" lang="en-US" sz="9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— Real-time კომუნიკაციისთვის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496119" y="4113386"/>
            <a:ext cx="8151763" cy="640110"/>
          </a:xfrm>
          <a:prstGeom prst="roundRect">
            <a:avLst>
              <a:gd fmla="val 2907" name="adj"/>
            </a:avLst>
          </a:prstGeom>
          <a:solidFill>
            <a:srgbClr val="7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288408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/>
          <p:nvPr/>
        </p:nvSpPr>
        <p:spPr>
          <a:xfrm>
            <a:off x="899071" y="4252838"/>
            <a:ext cx="762483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aleway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მნიშვნელოვანი:</a:t>
            </a:r>
            <a:r>
              <a:rPr b="0" i="0" lang="en-US" sz="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WebSocket </a:t>
            </a:r>
            <a:r>
              <a:rPr b="1" i="0" lang="en-US" sz="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არ ანაცვლებს</a:t>
            </a:r>
            <a:r>
              <a:rPr b="0" i="0" lang="en-US" sz="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REST API-ს. REST გამოიყენება CRUD ოპერაციებისთვის, ხოლო WebSocket — რეალურ დროში ორმხრივი კომუნიკაციისთვის. თანამედროვე აპლიკაციები ორივე ტექნოლოგიას ერთად იყენებენ.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2026-07-13T13:57:42Z</dcterms:created>
</cp:coreProperties>
</file>